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Sejam bem-vindos. Hoje vamos conversar sobre como transformar uma base acadêmica em uma trajetória profissional sólida em um mercado dominado pela tecnologia. Eu sou Francisco Oliveira e minha missão hoje é compartilhar como conectamos esses pontos.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começarmos, quero que pensem: o que realmente prepara um profissional para o futuro? É apenas o diploma ou algo a mais?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jornada começou com a curiosidade. Lembro dos primeiros contatos com a informática, onde a lógica de programação parecia um superpoder para resolver problemas. Foi ali que decidi: tecnologia seria meu caminho.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meu mapa acadêmico. Comecei em Redes em 2013, passei pela Ciência da Computação em 2021 e, em 2024, mergulhei em Sistemas de Informação na UFABC e Ciência de Dados na USP. Educação não é um destino, é um movimento contínuo.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mercado, essa base se transformou em engenharia de software e ciência de dados. Trabalhar com C#, .NET e Java me ensinou que a tecnologia é a ferramenta para construir soluções robustas e escaláveis.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Sempre acreditei que aprender e ensinar são as duas faces da mesma moeda. Minha experiência como professor na UniPiaget e instrutor no SENAI-SP me permitiu formar novos talentos e reforçar meu próprio conhecimento.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marco importante foi a instrutoria autorizada ServiceNow. Ao conectar Gestão de Serviços (ITSM) com a formação técnica, conseguimos entregar profissionais que entendem tanto o código quanto o processo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transformação digital mudou as regras. Hoje, não usamos tecnologia apenas para automatizar o que já existia, mas para reimaginar como o mundo funciona. É uma mudança de mentalidade, não apenas de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IA generativa, como ChatGPT e Copilot, elevou a barra. Ela expôs que a avaliação tradicional baseada em tarefas simples está quebrada. O valor agora está em como você usa essas ferramentas com responsabilidade e critério.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desenvolvimento de software, passamos de monolitos para microsserviços e APIs. O foco mudou do 'como codificar' para 'como integrar' e resolver problemas complexos com arquiteturas modernas.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DevOps e Cloud não são mais opcionais. Práticas de CI/CD, Docker e Kubernetes são o que permitem que uma ideia chegue ao usuário final com escala, segurança e velocidade.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apresentar barras sem uma métrica definida. Explique dois fluxos qualitativos: no BI, dados e indicadores informam decisões; no ITSM, uma solicitação passa por um workflow até a entrega do serviço. Em ambos, comece pela necessidade de negócio.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projeções do WEF como retrato global até 2030. Explique a leitura do gráfico: 170 milhões de postos criados, 92 milhões deslocados, saldo líquido de 78 milhões; cerca de 22% da estrutura do emprego passa por mudança. Isso soma tendências econômicas e tecnológicas, não é uma previsão de efeito da IA apenas nem específica para o Brasil.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Deloitte 2026 reúne mais de 22.500 respondentes Gen Z e Millennials em 44 países; não é uma amostra somente universitária ou brasileira. Destaque que só 25% da Gen Z prefere uma trajetória de promoções rápidas. A maioria favorece crescimento gradual ou experiências laterais, em meio à busca por estabilidade, competências e bem-estar.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survey global Deloitte 2025, 61% da Gen Z e dos Millennials temem que a IA generativa dificulte a entrada de jovens no mercado. Sobre ensino superior, 28% da Gen Z e 27% dos Millennials se preocupam com pouca experiência prática; 24% e 25%, respectivamente, com a relevância do currículo. Não generalize isso como opinião de todos os universitários brasileiros.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Deloitte 2025 aponta que 88% da Gen Z e 89% dos Millennials valorizam aprendizagem no trabalho; 86% e 84%, respectivamente, valorizam mentoria e orientação. Conecte o dado às três ações: resolver um problema, documentar no portfólio e pedir feedback.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receita para o sucesso combina Hard Skills técnicas (IA, Cloud, Segurança) com Soft Skills humanas (pensamento crítico, agilidade, resiliência). Uma sem a outra não sustenta uma carreira a longo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Evite afirmar que a IA substituirá somente tarefas ou que usar IA garante vantagem. O impacto varia por ocupação e contexto. Convide o público a separar tarefas que podem ser aceleradas de decisões que exigem validação, contexto, responsabilidade e julgamento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aprendizagem contínua como ciclo: estudar fundamentos, aplicar em projeto real e revisar com feedback. Em vez de uma frase de efeito sobre sobrevivência, peça que cada pessoa identifique um próximo passo viável para 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se preparar, não foque apenas em cursos. Construa um portfólio real, pratique o networking, mantenha sua presença digital ativa e use a IA como sua aliada diária.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Quero desafiar vocês agora: se eu pedisse para ver um projeto seu hoje, o que você teria para mostrar? A competência real é demonstrável. O que você consegue provar que faz?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futuro não é algo que acontece com você, é algo que você constrói com suas escolhas. Educação, iniciativa, prática e aprendizado são os quatro pilares dessa construção.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Retome a mensagem central fornecida no roteiro: diploma é conquista, conhecimento abre possibilidades, e soluções constroem trajetórias. Agradeça e abra para perguntas; use somente contatos reais caso o apresentador queira acrescentá-los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7238" y="1008720"/>
            <a:ext cx="5357813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 formação à transformação profissional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757238" y="2688896"/>
            <a:ext cx="4643438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Minha trajetória, a transformação tecnológica e os desafios da empregabilidade no século XXI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428625" y="3677524"/>
            <a:ext cx="8286750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Francisco Oliveira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28625" y="3959702"/>
            <a:ext cx="828675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Atuação Profissional &amp; Docência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57313" y="2288902"/>
            <a:ext cx="64293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"O que realmente prepara um profissional para o futuro?"</a:t>
            </a:r>
            <a:endParaRPr lang="en-US" sz="2450" dirty="0"/>
          </a:p>
        </p:txBody>
      </p:sp>
      <p:sp>
        <p:nvSpPr>
          <p:cNvPr id="5" name="Text 1"/>
          <p:cNvSpPr/>
          <p:nvPr/>
        </p:nvSpPr>
        <p:spPr>
          <a:xfrm>
            <a:off x="2071688" y="3397523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reflexão sobre a distância entre o diploma, a experiência prática e a capacidade de adaptação em um mundo em constante mudança.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tudo começou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60859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2950" y="1132284"/>
            <a:ext cx="36861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Interesse pela tecnologia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42950" y="1400175"/>
            <a:ext cx="36861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Curiosidade despertada pelos primeiros contatos com a computação e o funcionamento interno das máquinas.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028825"/>
            <a:ext cx="192881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4381" y="2000250"/>
            <a:ext cx="366474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Primeiros contatos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764381" y="2268141"/>
            <a:ext cx="36647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descoberta da lógica de programação e das possibilidades de automação.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896791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2950" y="2868216"/>
            <a:ext cx="368617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Escolhas profissionais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42950" y="3136106"/>
            <a:ext cx="368617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decisão consciente de seguir uma carreira que une a base técnica acadêmica ao mercado prático.</a:t>
            </a:r>
            <a:endParaRPr lang="en-US" sz="950" dirty="0"/>
          </a:p>
        </p:txBody>
      </p:sp>
      <p:sp>
        <p:nvSpPr>
          <p:cNvPr id="16" name="Shape 9"/>
          <p:cNvSpPr/>
          <p:nvPr/>
        </p:nvSpPr>
        <p:spPr>
          <a:xfrm>
            <a:off x="4714875" y="1132284"/>
            <a:ext cx="4000500" cy="2857500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75" y="2002036"/>
            <a:ext cx="571500" cy="5715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922169" y="2716411"/>
            <a:ext cx="158591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Fundamentos &amp; Curiosidade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5993606" y="2998589"/>
            <a:ext cx="144303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Início da trajetória profissional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Uma formação em movimento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296591" y="2418159"/>
            <a:ext cx="40719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2013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28663" y="3021806"/>
            <a:ext cx="154305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Redes de Computadores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364456" y="3450431"/>
            <a:ext cx="2714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UNIP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346233" y="2418159"/>
            <a:ext cx="403622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2021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799736" y="3021806"/>
            <a:ext cx="149661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Ciência da Computação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433744" y="3450431"/>
            <a:ext cx="2286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376286" y="2418159"/>
            <a:ext cx="43934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10144" y="3021806"/>
            <a:ext cx="157162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Tecnologias e Sistemas de Informação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413790" y="3450431"/>
            <a:ext cx="3643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UFABC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7424142" y="2418159"/>
            <a:ext cx="439341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2024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097316" y="3021806"/>
            <a:ext cx="1092994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Ciência de Dados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531298" y="3450431"/>
            <a:ext cx="2250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USP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 tecnologia à experiência profissional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8625" y="989409"/>
            <a:ext cx="4036219" cy="1755577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8" name="Shape 4"/>
          <p:cNvSpPr/>
          <p:nvPr/>
        </p:nvSpPr>
        <p:spPr>
          <a:xfrm>
            <a:off x="428625" y="989409"/>
            <a:ext cx="4036219" cy="2143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1221581"/>
            <a:ext cx="196453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5116" y="1203722"/>
            <a:ext cx="133230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Desenvolvimento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42938" y="1503759"/>
            <a:ext cx="36075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Criação e manutenção de sistemas robustos utilizando linguagens de alto nível e padrões de projeto.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42938" y="2355652"/>
            <a:ext cx="275034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42938" y="2355652"/>
            <a:ext cx="275034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C#</a:t>
            </a:r>
            <a:endParaRPr lang="en-US" sz="600" dirty="0"/>
          </a:p>
        </p:txBody>
      </p:sp>
      <p:sp>
        <p:nvSpPr>
          <p:cNvPr id="14" name="Shape 9"/>
          <p:cNvSpPr/>
          <p:nvPr/>
        </p:nvSpPr>
        <p:spPr>
          <a:xfrm>
            <a:off x="960834" y="2355652"/>
            <a:ext cx="353616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60834" y="2355652"/>
            <a:ext cx="353616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</a:t>
            </a:r>
            <a:endParaRPr lang="en-US" sz="600" dirty="0"/>
          </a:p>
        </p:txBody>
      </p:sp>
      <p:sp>
        <p:nvSpPr>
          <p:cNvPr id="16" name="Shape 11"/>
          <p:cNvSpPr/>
          <p:nvPr/>
        </p:nvSpPr>
        <p:spPr>
          <a:xfrm>
            <a:off x="1357313" y="2355652"/>
            <a:ext cx="346472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357313" y="2355652"/>
            <a:ext cx="346472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</a:t>
            </a:r>
            <a:endParaRPr lang="en-US" sz="600" dirty="0"/>
          </a:p>
        </p:txBody>
      </p:sp>
      <p:sp>
        <p:nvSpPr>
          <p:cNvPr id="18" name="Shape 13"/>
          <p:cNvSpPr/>
          <p:nvPr/>
        </p:nvSpPr>
        <p:spPr>
          <a:xfrm>
            <a:off x="1746647" y="2355652"/>
            <a:ext cx="435769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746647" y="2355652"/>
            <a:ext cx="435769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600" dirty="0"/>
          </a:p>
        </p:txBody>
      </p:sp>
      <p:sp>
        <p:nvSpPr>
          <p:cNvPr id="20" name="Shape 15"/>
          <p:cNvSpPr/>
          <p:nvPr/>
        </p:nvSpPr>
        <p:spPr>
          <a:xfrm>
            <a:off x="4679156" y="989409"/>
            <a:ext cx="4036219" cy="1755577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21" name="Shape 16"/>
          <p:cNvSpPr/>
          <p:nvPr/>
        </p:nvSpPr>
        <p:spPr>
          <a:xfrm>
            <a:off x="4679156" y="989409"/>
            <a:ext cx="4036219" cy="2143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221581"/>
            <a:ext cx="178594" cy="15716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57788" y="1203722"/>
            <a:ext cx="183237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Engenharia de Software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893469" y="1503759"/>
            <a:ext cx="36075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Desenho de arquitetura de soluções, integração de APIs e garantia de escalabilidade das aplicações.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893469" y="2355652"/>
            <a:ext cx="371475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93469" y="2355652"/>
            <a:ext cx="371475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</a:t>
            </a:r>
            <a:endParaRPr lang="en-US" sz="600" dirty="0"/>
          </a:p>
        </p:txBody>
      </p:sp>
      <p:sp>
        <p:nvSpPr>
          <p:cNvPr id="27" name="Shape 21"/>
          <p:cNvSpPr/>
          <p:nvPr/>
        </p:nvSpPr>
        <p:spPr>
          <a:xfrm>
            <a:off x="5307806" y="2355652"/>
            <a:ext cx="778669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307806" y="2355652"/>
            <a:ext cx="778669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Microsserviços</a:t>
            </a:r>
            <a:endParaRPr lang="en-US" sz="600" dirty="0"/>
          </a:p>
        </p:txBody>
      </p:sp>
      <p:sp>
        <p:nvSpPr>
          <p:cNvPr id="29" name="Shape 23"/>
          <p:cNvSpPr/>
          <p:nvPr/>
        </p:nvSpPr>
        <p:spPr>
          <a:xfrm>
            <a:off x="6129338" y="2355652"/>
            <a:ext cx="407194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129338" y="2355652"/>
            <a:ext cx="407194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</a:t>
            </a:r>
            <a:endParaRPr lang="en-US" sz="600" dirty="0"/>
          </a:p>
        </p:txBody>
      </p:sp>
      <p:sp>
        <p:nvSpPr>
          <p:cNvPr id="31" name="Shape 25"/>
          <p:cNvSpPr/>
          <p:nvPr/>
        </p:nvSpPr>
        <p:spPr>
          <a:xfrm>
            <a:off x="428625" y="2959298"/>
            <a:ext cx="4036219" cy="1755577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2" name="Shape 26"/>
          <p:cNvSpPr/>
          <p:nvPr/>
        </p:nvSpPr>
        <p:spPr>
          <a:xfrm>
            <a:off x="428625" y="2959298"/>
            <a:ext cx="4036219" cy="2143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3191470"/>
            <a:ext cx="139303" cy="157163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867966" y="3173611"/>
            <a:ext cx="4929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2938" y="3473648"/>
            <a:ext cx="36075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bancos de dados, estruturação de queries complexas e garantia da integridade da informação.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42938" y="4325541"/>
            <a:ext cx="614363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642938" y="4325541"/>
            <a:ext cx="614363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Server</a:t>
            </a:r>
            <a:endParaRPr lang="en-US" sz="600" dirty="0"/>
          </a:p>
        </p:txBody>
      </p:sp>
      <p:sp>
        <p:nvSpPr>
          <p:cNvPr id="38" name="Shape 31"/>
          <p:cNvSpPr/>
          <p:nvPr/>
        </p:nvSpPr>
        <p:spPr>
          <a:xfrm>
            <a:off x="1300163" y="4325541"/>
            <a:ext cx="639366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300163" y="4325541"/>
            <a:ext cx="639366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600" dirty="0"/>
          </a:p>
        </p:txBody>
      </p:sp>
      <p:sp>
        <p:nvSpPr>
          <p:cNvPr id="40" name="Shape 33"/>
          <p:cNvSpPr/>
          <p:nvPr/>
        </p:nvSpPr>
        <p:spPr>
          <a:xfrm>
            <a:off x="1982391" y="4325541"/>
            <a:ext cx="557213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1982391" y="4325541"/>
            <a:ext cx="557213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MongoDB</a:t>
            </a:r>
            <a:endParaRPr lang="en-US" sz="600" dirty="0"/>
          </a:p>
        </p:txBody>
      </p:sp>
      <p:sp>
        <p:nvSpPr>
          <p:cNvPr id="42" name="Shape 35"/>
          <p:cNvSpPr/>
          <p:nvPr/>
        </p:nvSpPr>
        <p:spPr>
          <a:xfrm>
            <a:off x="4679156" y="2959298"/>
            <a:ext cx="4036219" cy="1755577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3" name="Shape 36"/>
          <p:cNvSpPr/>
          <p:nvPr/>
        </p:nvSpPr>
        <p:spPr>
          <a:xfrm>
            <a:off x="4679156" y="2959298"/>
            <a:ext cx="4036219" cy="21431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3191470"/>
            <a:ext cx="157163" cy="157163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136356" y="3173611"/>
            <a:ext cx="71080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Soluções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4893469" y="3473648"/>
            <a:ext cx="3607594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de valor através de produtos digitais que resolvem problemas reais de negócio.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4893469" y="4325541"/>
            <a:ext cx="314325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893469" y="4325541"/>
            <a:ext cx="314325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Ágil</a:t>
            </a:r>
            <a:endParaRPr lang="en-US" sz="600" dirty="0"/>
          </a:p>
        </p:txBody>
      </p:sp>
      <p:sp>
        <p:nvSpPr>
          <p:cNvPr id="49" name="Shape 41"/>
          <p:cNvSpPr/>
          <p:nvPr/>
        </p:nvSpPr>
        <p:spPr>
          <a:xfrm>
            <a:off x="5250656" y="4325541"/>
            <a:ext cx="417909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5250656" y="4325541"/>
            <a:ext cx="417909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Scrum</a:t>
            </a:r>
            <a:endParaRPr lang="en-US" sz="600" dirty="0"/>
          </a:p>
        </p:txBody>
      </p:sp>
      <p:sp>
        <p:nvSpPr>
          <p:cNvPr id="51" name="Shape 43"/>
          <p:cNvSpPr/>
          <p:nvPr/>
        </p:nvSpPr>
        <p:spPr>
          <a:xfrm>
            <a:off x="5711428" y="4325541"/>
            <a:ext cx="717947" cy="175022"/>
          </a:xfrm>
          <a:prstGeom prst="rect">
            <a:avLst/>
          </a:prstGeom>
          <a:solidFill>
            <a:srgbClr val="0B132B"/>
          </a:solidFill>
          <a:ln w="9144">
            <a:solidFill>
              <a:srgbClr val="334155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5711428" y="4325541"/>
            <a:ext cx="717947" cy="175022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Produtividade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Conhecimento que se compartilha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1628775"/>
            <a:ext cx="200025" cy="63936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72025" y="1600200"/>
            <a:ext cx="3943350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Professor do Ensino Superior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772025" y="1882378"/>
            <a:ext cx="39433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Atuação docente no ensino superior, compartilhando conhecimento técnico e prático em tecnologia.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5" y="2582466"/>
            <a:ext cx="250031" cy="63936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22031" y="2553891"/>
            <a:ext cx="389334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Instrutor de Formação Profissional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822031" y="2836069"/>
            <a:ext cx="3893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Experiência no ensino técnico e profissional, contribuindo para a formação de novos profissionais no SENAI-SP.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3536156"/>
            <a:ext cx="250031" cy="63936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22031" y="3507581"/>
            <a:ext cx="3893344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Formação de novos talentos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822031" y="3789759"/>
            <a:ext cx="3893344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compromisso de orientar carreiras e transformar o potencial acadêmico em prontidão para o mercado.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Educação, tecnologia e mercado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828675" y="2209205"/>
            <a:ext cx="2000250" cy="1428750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066" y="2387798"/>
            <a:ext cx="321469" cy="257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89459" y="2752130"/>
            <a:ext cx="87868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Capacitação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1007269" y="3034308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Instrutor Autorizado ServiceNow pelo SENAI-SP</a:t>
            </a:r>
            <a:endParaRPr lang="en-US" sz="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675" y="2837855"/>
            <a:ext cx="171450" cy="17145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3571875" y="2209205"/>
            <a:ext cx="2000250" cy="1428750"/>
          </a:xfrm>
          <a:prstGeom prst="rect">
            <a:avLst/>
          </a:prstGeom>
          <a:solidFill>
            <a:srgbClr val="1C2541"/>
          </a:solidFill>
          <a:ln w="18288">
            <a:solidFill>
              <a:srgbClr val="00E5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266" y="2387798"/>
            <a:ext cx="321469" cy="2571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048720" y="2752130"/>
            <a:ext cx="10465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Especialização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3750469" y="3034308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Serviços de TI (ITSM) e Automação de Workflows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75" y="2837855"/>
            <a:ext cx="171450" cy="17145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6315075" y="2209205"/>
            <a:ext cx="2000250" cy="1428750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613" y="2387798"/>
            <a:ext cx="257175" cy="2571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7006233" y="2752130"/>
            <a:ext cx="61793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Mercado</a:t>
            </a:r>
            <a:endParaRPr lang="en-US" sz="1000" dirty="0"/>
          </a:p>
        </p:txBody>
      </p:sp>
      <p:sp>
        <p:nvSpPr>
          <p:cNvPr id="20" name="Text 11"/>
          <p:cNvSpPr/>
          <p:nvPr/>
        </p:nvSpPr>
        <p:spPr>
          <a:xfrm>
            <a:off x="6493669" y="3034308"/>
            <a:ext cx="16430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 de profissionais prontos para demandas de TI corporativa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759023"/>
            <a:ext cx="8286750" cy="29324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759023"/>
            <a:ext cx="28575" cy="293245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642938" y="759023"/>
            <a:ext cx="80724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tecnologia está transformando o mundo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642938" y="1176933"/>
            <a:ext cx="7143750" cy="2514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transformação digital não é </a:t>
            </a: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sobre </a:t>
            </a:r>
            <a:r>
              <a:rPr lang="en-US" sz="33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ferramentas</a:t>
            </a: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, é sobre </a:t>
            </a: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</a:t>
            </a:r>
            <a:r>
              <a:rPr lang="en-US" sz="33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reimaginamos</a:t>
            </a: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empresas, </a:t>
            </a: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profissões e a própria </a:t>
            </a:r>
            <a:r>
              <a:rPr lang="en-US" sz="33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sociedade.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428625" y="4262977"/>
            <a:ext cx="82867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EDUCAUSE Review | Emerging Technologies and Trends (2026)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Inteligência Artificial: Ferramenta e Responsabilidade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8625" y="1882043"/>
            <a:ext cx="4000500" cy="1693683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194582"/>
            <a:ext cx="214313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35844" y="2174937"/>
            <a:ext cx="1139428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Generativa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714375" y="2528553"/>
            <a:ext cx="34290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ChatGPT, Gemini e Copilot: além do chat.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714375" y="2815698"/>
            <a:ext cx="34290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Agentes inteligentes integrados a processos.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714375" y="3102843"/>
            <a:ext cx="34290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Aumento radical de produtividade individual.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714875" y="1792077"/>
            <a:ext cx="4000500" cy="1873672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2104616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79231" y="2084970"/>
            <a:ext cx="142160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Humano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000625" y="2438586"/>
            <a:ext cx="34290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Mudança nos critérios de avaliação educacional.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5214938" y="2725731"/>
            <a:ext cx="1211145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em demonstrar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6511807" y="2725731"/>
            <a:ext cx="1286210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você sabe fazer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7883742" y="2725731"/>
            <a:ext cx="545883" cy="359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 a IA.</a:t>
            </a:r>
            <a:endParaRPr lang="en-US" sz="950" dirty="0"/>
          </a:p>
        </p:txBody>
      </p:sp>
      <p:sp>
        <p:nvSpPr>
          <p:cNvPr id="20" name="Text 14"/>
          <p:cNvSpPr/>
          <p:nvPr/>
        </p:nvSpPr>
        <p:spPr>
          <a:xfrm>
            <a:off x="5000625" y="3192866"/>
            <a:ext cx="34290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Responsabilidade ética e transparência de dados.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28625" y="4611291"/>
            <a:ext cx="8286750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Ref: Gamby et al., EDUCAUSE Review (2026)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Desenvolvimento de Software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8625" y="1060847"/>
            <a:ext cx="2619356" cy="2678906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8" name="Shape 4"/>
          <p:cNvSpPr/>
          <p:nvPr/>
        </p:nvSpPr>
        <p:spPr>
          <a:xfrm>
            <a:off x="428625" y="3711178"/>
            <a:ext cx="2619356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682" y="1275159"/>
            <a:ext cx="357188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2938" y="1703784"/>
            <a:ext cx="219073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Stacks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642938" y="2003822"/>
            <a:ext cx="2190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Domínio de Ecossistemas: C#, .NET e Java para aplicações escaláveis.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3262294" y="1060847"/>
            <a:ext cx="2619356" cy="2678906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3" name="Shape 8"/>
          <p:cNvSpPr/>
          <p:nvPr/>
        </p:nvSpPr>
        <p:spPr>
          <a:xfrm>
            <a:off x="3262294" y="3711178"/>
            <a:ext cx="2619356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788" y="1275159"/>
            <a:ext cx="214313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476606" y="1703784"/>
            <a:ext cx="219073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Integração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476606" y="2003822"/>
            <a:ext cx="2190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APIs modernas (REST), Microsserviços e comunicação assíncrona.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6095963" y="1060847"/>
            <a:ext cx="2619356" cy="2678906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8" name="Shape 12"/>
          <p:cNvSpPr/>
          <p:nvPr/>
        </p:nvSpPr>
        <p:spPr>
          <a:xfrm>
            <a:off x="6095963" y="3711178"/>
            <a:ext cx="2619356" cy="28575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457" y="1275159"/>
            <a:ext cx="214313" cy="2857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10275" y="1703784"/>
            <a:ext cx="219073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Resolução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310275" y="2003822"/>
            <a:ext cx="21907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código como meio: transformando problemas reais em soluções digitais.</a:t>
            </a:r>
            <a:endParaRPr lang="en-US" sz="850" dirty="0"/>
          </a:p>
        </p:txBody>
      </p:sp>
      <p:sp>
        <p:nvSpPr>
          <p:cNvPr id="22" name="Shape 15"/>
          <p:cNvSpPr/>
          <p:nvPr/>
        </p:nvSpPr>
        <p:spPr>
          <a:xfrm>
            <a:off x="428625" y="4168378"/>
            <a:ext cx="8286750" cy="546497"/>
          </a:xfrm>
          <a:prstGeom prst="rect">
            <a:avLst/>
          </a:prstGeom>
          <a:solidFill>
            <a:srgbClr val="0F172A"/>
          </a:solidFill>
          <a:ln w="9144">
            <a:solidFill>
              <a:srgbClr val="334155"/>
            </a:solidFill>
            <a:prstDash val="dash"/>
          </a:ln>
        </p:spPr>
      </p:sp>
      <p:sp>
        <p:nvSpPr>
          <p:cNvPr id="23" name="Text 16"/>
          <p:cNvSpPr/>
          <p:nvPr/>
        </p:nvSpPr>
        <p:spPr>
          <a:xfrm>
            <a:off x="428625" y="4168378"/>
            <a:ext cx="8286750" cy="546497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"Uma solução tecnológica é o resultado de entender o problema antes de escrever a primeira linha de código."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Cloud, DevOps e Automação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714375" y="2255639"/>
            <a:ext cx="1571625" cy="1335881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459" y="2441377"/>
            <a:ext cx="221456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66205" y="2777133"/>
            <a:ext cx="867966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Controle &amp; Git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892969" y="3041452"/>
            <a:ext cx="1214438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código, colaboração e versionamento.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2762231" y="2316361"/>
            <a:ext cx="1571625" cy="1214438"/>
          </a:xfrm>
          <a:prstGeom prst="rect">
            <a:avLst/>
          </a:prstGeom>
          <a:solidFill>
            <a:srgbClr val="1C2541"/>
          </a:solidFill>
          <a:ln w="9144">
            <a:solidFill>
              <a:srgbClr val="00E5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169" y="2502098"/>
            <a:ext cx="2857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30160" y="2837855"/>
            <a:ext cx="435769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 / CD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2940825" y="3102173"/>
            <a:ext cx="12144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Integração e entrega contínua para escala.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4810144" y="2316361"/>
            <a:ext cx="1571625" cy="1214438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081" y="2502098"/>
            <a:ext cx="28575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51270" y="2837855"/>
            <a:ext cx="689372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Containers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4988737" y="3102173"/>
            <a:ext cx="12144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e Kubernetes para isolamento.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6858000" y="2316361"/>
            <a:ext cx="1571625" cy="1214438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38" y="2502098"/>
            <a:ext cx="28575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458075" y="2837855"/>
            <a:ext cx="37147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7036594" y="3102173"/>
            <a:ext cx="121443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elástica e serviços em nuvem.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00050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TRANSFORMAR INFORMAÇÃO EM AÇÃO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07219"/>
            <a:ext cx="8229600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só geram valor quando melhoram uma decisão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457200" y="1035844"/>
            <a:ext cx="642937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Duas frentes conectam tecnologia, operação e necessidades de negócio.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3879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14375" y="2266020"/>
            <a:ext cx="178950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57200" y="2633923"/>
            <a:ext cx="1104881" cy="985838"/>
          </a:xfrm>
          <a:prstGeom prst="rect">
            <a:avLst/>
          </a:prstGeom>
          <a:solidFill>
            <a:srgbClr val="1C2541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2928603"/>
            <a:ext cx="904856" cy="16430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7213" y="3185778"/>
            <a:ext cx="9048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</a:t>
            </a:r>
            <a:endParaRPr lang="en-US" sz="750" dirty="0"/>
          </a:p>
        </p:txBody>
      </p:sp>
      <p:sp>
        <p:nvSpPr>
          <p:cNvPr id="12" name="Text 6"/>
          <p:cNvSpPr/>
          <p:nvPr/>
        </p:nvSpPr>
        <p:spPr>
          <a:xfrm>
            <a:off x="1633519" y="3035759"/>
            <a:ext cx="1500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1854975" y="2633923"/>
            <a:ext cx="1104937" cy="985838"/>
          </a:xfrm>
          <a:prstGeom prst="rect">
            <a:avLst/>
          </a:prstGeom>
          <a:solidFill>
            <a:srgbClr val="1C254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988" y="2858951"/>
            <a:ext cx="904912" cy="1643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954988" y="3116126"/>
            <a:ext cx="90491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Indicadores no Power BI</a:t>
            </a:r>
            <a:endParaRPr lang="en-US" sz="750" dirty="0"/>
          </a:p>
        </p:txBody>
      </p:sp>
      <p:sp>
        <p:nvSpPr>
          <p:cNvPr id="16" name="Text 9"/>
          <p:cNvSpPr/>
          <p:nvPr/>
        </p:nvSpPr>
        <p:spPr>
          <a:xfrm>
            <a:off x="3031350" y="3035759"/>
            <a:ext cx="1500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3252806" y="2633923"/>
            <a:ext cx="1104881" cy="985838"/>
          </a:xfrm>
          <a:prstGeom prst="rect">
            <a:avLst/>
          </a:prstGeom>
          <a:solidFill>
            <a:srgbClr val="1C2541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19" y="2928603"/>
            <a:ext cx="904856" cy="16430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352819" y="3185778"/>
            <a:ext cx="9048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Decisão</a:t>
            </a:r>
            <a:endParaRPr lang="en-US" sz="750" dirty="0"/>
          </a:p>
        </p:txBody>
      </p:sp>
      <p:sp>
        <p:nvSpPr>
          <p:cNvPr id="20" name="Text 12"/>
          <p:cNvSpPr/>
          <p:nvPr/>
        </p:nvSpPr>
        <p:spPr>
          <a:xfrm>
            <a:off x="457200" y="3762635"/>
            <a:ext cx="3900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Pergunta de negócio → visualização clara → escolha baseada em evidências.</a:t>
            </a:r>
            <a:endParaRPr lang="en-US" sz="85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283879"/>
            <a:ext cx="214313" cy="1714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086350" y="2266020"/>
            <a:ext cx="2225278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Gestão de Serviços (ITSM)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4786313" y="2633923"/>
            <a:ext cx="1104881" cy="985838"/>
          </a:xfrm>
          <a:prstGeom prst="rect">
            <a:avLst/>
          </a:prstGeom>
          <a:solidFill>
            <a:srgbClr val="1C2541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86325" y="2928603"/>
            <a:ext cx="904856" cy="16430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886325" y="3185778"/>
            <a:ext cx="9048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Solicitação</a:t>
            </a:r>
            <a:endParaRPr lang="en-US" sz="750" dirty="0"/>
          </a:p>
        </p:txBody>
      </p:sp>
      <p:sp>
        <p:nvSpPr>
          <p:cNvPr id="26" name="Text 16"/>
          <p:cNvSpPr/>
          <p:nvPr/>
        </p:nvSpPr>
        <p:spPr>
          <a:xfrm>
            <a:off x="5962631" y="3035759"/>
            <a:ext cx="1500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6184088" y="2633923"/>
            <a:ext cx="1104937" cy="985838"/>
          </a:xfrm>
          <a:prstGeom prst="rect">
            <a:avLst/>
          </a:prstGeom>
          <a:solidFill>
            <a:srgbClr val="1C2541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100" y="2858951"/>
            <a:ext cx="904912" cy="164306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284100" y="3116126"/>
            <a:ext cx="90491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Workflow ServiceNow</a:t>
            </a:r>
            <a:endParaRPr lang="en-US" sz="750" dirty="0"/>
          </a:p>
        </p:txBody>
      </p:sp>
      <p:sp>
        <p:nvSpPr>
          <p:cNvPr id="30" name="Text 19"/>
          <p:cNvSpPr/>
          <p:nvPr/>
        </p:nvSpPr>
        <p:spPr>
          <a:xfrm>
            <a:off x="7360462" y="3035759"/>
            <a:ext cx="15001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7581919" y="2633923"/>
            <a:ext cx="1104881" cy="985838"/>
          </a:xfrm>
          <a:prstGeom prst="rect">
            <a:avLst/>
          </a:prstGeom>
          <a:solidFill>
            <a:srgbClr val="1C2541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1931" y="2928603"/>
            <a:ext cx="904856" cy="164306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681931" y="3185778"/>
            <a:ext cx="9048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Serviço entregue</a:t>
            </a:r>
            <a:endParaRPr lang="en-US" sz="750" dirty="0"/>
          </a:p>
        </p:txBody>
      </p:sp>
      <p:sp>
        <p:nvSpPr>
          <p:cNvPr id="34" name="Text 22"/>
          <p:cNvSpPr/>
          <p:nvPr/>
        </p:nvSpPr>
        <p:spPr>
          <a:xfrm>
            <a:off x="4786313" y="3762635"/>
            <a:ext cx="3900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e automações ajudam a tornar a operação de TI mais consistente e rastreável.</a:t>
            </a:r>
            <a:endParaRPr lang="en-US" sz="850" dirty="0"/>
          </a:p>
        </p:txBody>
      </p:sp>
      <p:sp>
        <p:nvSpPr>
          <p:cNvPr id="35" name="Shape 23"/>
          <p:cNvSpPr/>
          <p:nvPr/>
        </p:nvSpPr>
        <p:spPr>
          <a:xfrm>
            <a:off x="457200" y="4957093"/>
            <a:ext cx="8229600" cy="18640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24"/>
          <p:cNvSpPr/>
          <p:nvPr/>
        </p:nvSpPr>
        <p:spPr>
          <a:xfrm>
            <a:off x="457200" y="4957093"/>
            <a:ext cx="21431" cy="18640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25"/>
          <p:cNvSpPr/>
          <p:nvPr/>
        </p:nvSpPr>
        <p:spPr>
          <a:xfrm>
            <a:off x="457200" y="4957093"/>
            <a:ext cx="8229600" cy="186407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fio condutor: compreender a necessidade antes de escolher a ferramenta.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385763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FUTURO DO TRABALHO · PROJEÇÃO GLOBAL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07219"/>
            <a:ext cx="7429500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Até 2030, criação e deslocamento de empregos acontecem ao mesmo tempo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457200" y="1311771"/>
            <a:ext cx="82296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leitura importante não é só quantas vagas somem — é como a estrutura do trabalho muda.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" y="2704356"/>
            <a:ext cx="14644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Novos postos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050256" y="2575768"/>
            <a:ext cx="3389375" cy="41433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9" name="Shape 5"/>
          <p:cNvSpPr/>
          <p:nvPr/>
        </p:nvSpPr>
        <p:spPr>
          <a:xfrm>
            <a:off x="2050256" y="2575768"/>
            <a:ext cx="3389375" cy="41433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6"/>
          <p:cNvSpPr/>
          <p:nvPr/>
        </p:nvSpPr>
        <p:spPr>
          <a:xfrm>
            <a:off x="2050256" y="2575768"/>
            <a:ext cx="3389375" cy="4143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2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170 milhões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3318718"/>
            <a:ext cx="146446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Postos deslocados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050256" y="3190131"/>
            <a:ext cx="3389375" cy="414338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13" name="Shape 9"/>
          <p:cNvSpPr/>
          <p:nvPr/>
        </p:nvSpPr>
        <p:spPr>
          <a:xfrm>
            <a:off x="2050256" y="3190131"/>
            <a:ext cx="1833600" cy="41433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4" name="Text 10"/>
          <p:cNvSpPr/>
          <p:nvPr/>
        </p:nvSpPr>
        <p:spPr>
          <a:xfrm>
            <a:off x="2050256" y="3190131"/>
            <a:ext cx="1833600" cy="414338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712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92 milhões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050256" y="3711625"/>
            <a:ext cx="338937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Projeções acumuladas até 2030 · escala relativa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6061137" y="2138046"/>
            <a:ext cx="2625607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SALDO LÍQUIDO PROJETADO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6061137" y="2348787"/>
            <a:ext cx="2625607" cy="5814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8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+78 mi</a:t>
            </a:r>
            <a:endParaRPr lang="en-US" sz="3850" dirty="0"/>
          </a:p>
        </p:txBody>
      </p:sp>
      <p:sp>
        <p:nvSpPr>
          <p:cNvPr id="18" name="Text 14"/>
          <p:cNvSpPr/>
          <p:nvPr/>
        </p:nvSpPr>
        <p:spPr>
          <a:xfrm>
            <a:off x="6061137" y="3001714"/>
            <a:ext cx="2357438" cy="5903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líquidas a mais — com transições reais para quem precisa se adaptar.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061137" y="3995700"/>
            <a:ext cx="475059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22%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664784" y="3970697"/>
            <a:ext cx="202196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estrutura de empregos deve passar por mudança estrutural.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57200" y="4732734"/>
            <a:ext cx="8229600" cy="410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457200" y="4732734"/>
            <a:ext cx="8229600" cy="7144"/>
          </a:xfrm>
          <a:prstGeom prst="rect">
            <a:avLst/>
          </a:prstGeom>
          <a:solidFill>
            <a:srgbClr val="263653"/>
          </a:solidFill>
          <a:ln/>
        </p:spPr>
      </p:sp>
      <p:sp>
        <p:nvSpPr>
          <p:cNvPr id="23" name="Text 19"/>
          <p:cNvSpPr/>
          <p:nvPr/>
        </p:nvSpPr>
        <p:spPr>
          <a:xfrm>
            <a:off x="457200" y="4732734"/>
            <a:ext cx="8229600" cy="410766"/>
          </a:xfrm>
          <a:prstGeom prst="rect">
            <a:avLst/>
          </a:prstGeom>
          <a:noFill/>
          <a:ln/>
        </p:spPr>
        <p:txBody>
          <a:bodyPr wrap="square" lIns="0" tIns="153035" rIns="0" bIns="204089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World Economic Forum, Future of Jobs Report 2025. Projeções globais; incluem múltiplas tendências econômicas e tecnológicas, não apenas IA. Não são previsão específica para o Brasil.</a:t>
            </a:r>
            <a:endParaRPr lang="en-US" sz="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57638" y="978136"/>
            <a:ext cx="472916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EXPECTATIVAS DA GERAÇÃO Z · PESQUISA GLOBAL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3957638" y="1199592"/>
            <a:ext cx="4729163" cy="6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2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Progresso, sim.</a:t>
            </a:r>
            <a:r>
              <a:rPr lang="en-US" sz="2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2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 não a qualquer custo.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3957638" y="2043113"/>
            <a:ext cx="4429125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Estabilidade, desenvolvimento de competências e bem-estar aparecem junto da ambição — não como falta dela.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3957638" y="2737396"/>
            <a:ext cx="93940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9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25%</a:t>
            </a:r>
            <a:endParaRPr lang="en-US" sz="2950" dirty="0"/>
          </a:p>
        </p:txBody>
      </p:sp>
      <p:sp>
        <p:nvSpPr>
          <p:cNvPr id="8" name="Text 4"/>
          <p:cNvSpPr/>
          <p:nvPr/>
        </p:nvSpPr>
        <p:spPr>
          <a:xfrm>
            <a:off x="5025628" y="3008858"/>
            <a:ext cx="3661172" cy="509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Geração Z prefere uma carreira marcada por promoções </a:t>
            </a: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rápidas.</a:t>
            </a: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9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maioria prefere crescimento gradual ou experiências laterais.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638" y="3940336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50519" y="3947480"/>
            <a:ext cx="7215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Estabilidade</a:t>
            </a:r>
            <a:endParaRPr lang="en-US" sz="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869" y="3940336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769750" y="3947480"/>
            <a:ext cx="8536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Competências</a:t>
            </a:r>
            <a:endParaRPr lang="en-US" sz="8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100" y="3940336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388982" y="3947480"/>
            <a:ext cx="62507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Bem-estar</a:t>
            </a:r>
            <a:endParaRPr lang="en-US" sz="850" dirty="0"/>
          </a:p>
        </p:txBody>
      </p:sp>
      <p:sp>
        <p:nvSpPr>
          <p:cNvPr id="15" name="Shape 8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9"/>
          <p:cNvSpPr/>
          <p:nvPr/>
        </p:nvSpPr>
        <p:spPr>
          <a:xfrm>
            <a:off x="457200" y="4686300"/>
            <a:ext cx="8229600" cy="7144"/>
          </a:xfrm>
          <a:prstGeom prst="rect">
            <a:avLst/>
          </a:prstGeom>
          <a:solidFill>
            <a:srgbClr val="263653"/>
          </a:solidFill>
          <a:ln/>
        </p:spPr>
      </p:sp>
      <p:sp>
        <p:nvSpPr>
          <p:cNvPr id="17" name="Text 10"/>
          <p:cNvSpPr/>
          <p:nvPr/>
        </p:nvSpPr>
        <p:spPr>
          <a:xfrm>
            <a:off x="457200" y="46863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119126" rIns="0" bIns="170053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Deloitte Global Gen Z and Millennial Survey 2026 · mais de 22.500 respondentes, 44 países. Pesquisa global de gerações — não exclusiva de universitários nem representativa apenas do Brasil. Imagem ilustrativa.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786118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PONTO DE VISTA DOS JOVENS TRABALHADORES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2993287"/>
            <a:ext cx="8229600" cy="3300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1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entrada no mercado também precisa mudar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457200" y="3616189"/>
            <a:ext cx="2609813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9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61%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457200" y="3986213"/>
            <a:ext cx="260981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preocupação com IA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57200" y="4182666"/>
            <a:ext cx="23574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 Geração Z e Millennials temem que a IA generativa dificulte a entrada de jovens no mercado.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3267038" y="3616189"/>
            <a:ext cx="2609869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9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28% / 27%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267038" y="3986213"/>
            <a:ext cx="260986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experiência prática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3267038" y="418266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Z / Millennials apontam pouca prática no ensino superior como preocupação.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076931" y="3616189"/>
            <a:ext cx="2609869" cy="2985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9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24% / 25%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076931" y="3986213"/>
            <a:ext cx="260986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currículo relevante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6076931" y="4182666"/>
            <a:ext cx="2357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Z / Millennials questionam a conexão do currículo com as demandas do trabalho.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" y="4818459"/>
            <a:ext cx="8229600" cy="32504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" y="4818459"/>
            <a:ext cx="82296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3"/>
          <p:cNvSpPr/>
          <p:nvPr/>
        </p:nvSpPr>
        <p:spPr>
          <a:xfrm>
            <a:off x="457200" y="4818459"/>
            <a:ext cx="8229600" cy="325041"/>
          </a:xfrm>
          <a:prstGeom prst="rect">
            <a:avLst/>
          </a:prstGeom>
          <a:noFill/>
          <a:ln/>
        </p:spPr>
        <p:txBody>
          <a:bodyPr wrap="square" lIns="0" tIns="102108" rIns="0" bIns="153035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Deloitte Global Gen Z and Millennial Survey 2025 · 23.482 respondentes em 44 países. Dados globais; não são uma pesquisa exclusiva com estudantes universitários. Imagem ilustrativa.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370540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UMA PONTE ENTRE UNIVERSIDADE E TRABALHO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1577708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Aprender fazendo — com alguém para orientar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57200" y="2024193"/>
            <a:ext cx="8229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pesquisa reforça dois pedidos concretos: experiência prática e apoio de pessoas mais experientes.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416248" y="2381380"/>
            <a:ext cx="296822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88% / 89%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1416248" y="2802861"/>
            <a:ext cx="2968228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Z / Millennials valorizam aprender no trabalho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813102" y="2381380"/>
            <a:ext cx="29146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86% / 84%</a:t>
            </a:r>
            <a:endParaRPr lang="en-US" sz="2250" dirty="0"/>
          </a:p>
        </p:txBody>
      </p:sp>
      <p:sp>
        <p:nvSpPr>
          <p:cNvPr id="10" name="Text 6"/>
          <p:cNvSpPr/>
          <p:nvPr/>
        </p:nvSpPr>
        <p:spPr>
          <a:xfrm>
            <a:off x="4813102" y="2802861"/>
            <a:ext cx="2914650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Geração Z / Millennials buscam mentoria e orientação</a:t>
            </a:r>
            <a:endParaRPr lang="en-US" sz="8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94" y="3495080"/>
            <a:ext cx="225028" cy="1785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51222" y="3423977"/>
            <a:ext cx="212169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 · Resolva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851222" y="3609715"/>
            <a:ext cx="212169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Escolha um problema real, mesmo pequeno.</a:t>
            </a:r>
            <a:endParaRPr lang="en-US" sz="7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394" y="3495080"/>
            <a:ext cx="200025" cy="1785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0719" y="3356502"/>
            <a:ext cx="200025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 · Documente</a:t>
            </a:r>
            <a:endParaRPr lang="en-US" sz="900" dirty="0"/>
          </a:p>
        </p:txBody>
      </p:sp>
      <p:sp>
        <p:nvSpPr>
          <p:cNvPr id="16" name="Text 10"/>
          <p:cNvSpPr/>
          <p:nvPr/>
        </p:nvSpPr>
        <p:spPr>
          <a:xfrm>
            <a:off x="3610719" y="3542240"/>
            <a:ext cx="200025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Registre decisão, processo e resultado no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3610719" y="3677245"/>
            <a:ext cx="2000250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portfólio.</a:t>
            </a:r>
            <a:endParaRPr lang="en-US" sz="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894" y="3495080"/>
            <a:ext cx="225028" cy="1785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20222" y="3356502"/>
            <a:ext cx="203239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 · Peça feedback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420222" y="3542240"/>
            <a:ext cx="2032397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Procure orientação para revisar e evoluir o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6420222" y="3677245"/>
            <a:ext cx="2032397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projeto.</a:t>
            </a:r>
            <a:endParaRPr lang="en-US" sz="750" dirty="0"/>
          </a:p>
        </p:txBody>
      </p:sp>
      <p:sp>
        <p:nvSpPr>
          <p:cNvPr id="22" name="Text 15"/>
          <p:cNvSpPr/>
          <p:nvPr/>
        </p:nvSpPr>
        <p:spPr>
          <a:xfrm>
            <a:off x="457200" y="4811316"/>
            <a:ext cx="8229600" cy="332184"/>
          </a:xfrm>
          <a:prstGeom prst="rect">
            <a:avLst/>
          </a:prstGeom>
          <a:noFill/>
          <a:ln/>
        </p:spPr>
        <p:txBody>
          <a:bodyPr wrap="square" lIns="0" tIns="119126" rIns="0" bIns="153035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Deloitte Global Gen Z and Millennial Survey 2025 · 44 países. Imagem ilustrativa.</a:t>
            </a:r>
            <a:endParaRPr lang="en-US" sz="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 Skills + Soft Skills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151930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07231" y="1132284"/>
            <a:ext cx="181094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Hard Skills (Técnicas)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28625" y="1700213"/>
            <a:ext cx="3929063" cy="1393031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928813"/>
            <a:ext cx="17859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28688" y="1914525"/>
            <a:ext cx="178593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Inteligência Artificial &amp; Dados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193131"/>
            <a:ext cx="178594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28688" y="2178844"/>
            <a:ext cx="20252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Programação e Cloud Computing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457450"/>
            <a:ext cx="178594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28688" y="2443163"/>
            <a:ext cx="149661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Cibersegurança &amp; Redes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2721769"/>
            <a:ext cx="178594" cy="12858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28688" y="2707481"/>
            <a:ext cx="163949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de Serviços (ITSM)</a:t>
            </a:r>
            <a:endParaRPr lang="en-US" sz="95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1151930"/>
            <a:ext cx="214313" cy="17145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07781" y="1132284"/>
            <a:ext cx="1789509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Soft Skills (Humanas)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4786313" y="1700213"/>
            <a:ext cx="3929063" cy="1393031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0625" y="1928813"/>
            <a:ext cx="178594" cy="128588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286375" y="1914525"/>
            <a:ext cx="193595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Pensamento Analítico e Criativo</a:t>
            </a:r>
            <a:endParaRPr lang="en-US" sz="9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0625" y="2193131"/>
            <a:ext cx="178594" cy="128588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286375" y="2178844"/>
            <a:ext cx="136088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Resiliência e Agilidade</a:t>
            </a:r>
            <a:endParaRPr lang="en-US" sz="9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0625" y="2457450"/>
            <a:ext cx="178594" cy="128588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5286375" y="2443163"/>
            <a:ext cx="158591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Comunicação e Liderança</a:t>
            </a:r>
            <a:endParaRPr lang="en-US" sz="95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625" y="2721769"/>
            <a:ext cx="178594" cy="128588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5286375" y="2707481"/>
            <a:ext cx="193238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Curiosidade e Lifelong Learning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414338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E TRABALHO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621506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IA muda tarefas — e aumenta o valor do critério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57200" y="1082278"/>
            <a:ext cx="8229600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impacto depende da atividade, do contexto e de como a ferramenta é usada.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00213"/>
            <a:ext cx="164306" cy="16430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1506" y="1682353"/>
            <a:ext cx="160734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pode acelerar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68116"/>
            <a:ext cx="114300" cy="15141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71513" y="2039541"/>
            <a:ext cx="25146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Rascunhos, sínteses e tarefas repetitivas.</a:t>
            </a:r>
            <a:endParaRPr lang="en-US" sz="9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76692"/>
            <a:ext cx="114300" cy="15141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71513" y="2348117"/>
            <a:ext cx="3071813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Exploração inicial de dados, ideias ou alternativas.</a:t>
            </a:r>
            <a:endParaRPr lang="en-US" sz="9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85269"/>
            <a:ext cx="114300" cy="15141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71513" y="2656694"/>
            <a:ext cx="2968228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Automação de etapas — com validação humana.</a:t>
            </a:r>
            <a:endParaRPr lang="en-US" sz="9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1700213"/>
            <a:ext cx="207169" cy="164306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029200" y="1682353"/>
            <a:ext cx="2210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Onde o julgamento importa</a:t>
            </a:r>
            <a:endParaRPr lang="en-US" sz="11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2068116"/>
            <a:ext cx="114300" cy="15141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5036344" y="2039541"/>
            <a:ext cx="2864644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precisão, vieses e limites da resposta.</a:t>
            </a:r>
            <a:endParaRPr lang="en-US" sz="9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2031" y="2376692"/>
            <a:ext cx="114300" cy="151414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5036344" y="2348117"/>
            <a:ext cx="3011091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Entender o problema e decidir o que é adequado.</a:t>
            </a:r>
            <a:endParaRPr lang="en-US" sz="95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2031" y="2685269"/>
            <a:ext cx="114300" cy="151414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036344" y="2656694"/>
            <a:ext cx="3046809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Assumir responsabilidade por dados e resultados.</a:t>
            </a:r>
            <a:endParaRPr lang="en-US" sz="950" dirty="0"/>
          </a:p>
        </p:txBody>
      </p:sp>
      <p:sp>
        <p:nvSpPr>
          <p:cNvPr id="23" name="Shape 11"/>
          <p:cNvSpPr/>
          <p:nvPr/>
        </p:nvSpPr>
        <p:spPr>
          <a:xfrm>
            <a:off x="457200" y="4590585"/>
            <a:ext cx="8229600" cy="55291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12"/>
          <p:cNvSpPr/>
          <p:nvPr/>
        </p:nvSpPr>
        <p:spPr>
          <a:xfrm>
            <a:off x="457200" y="4590585"/>
            <a:ext cx="8229600" cy="7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13"/>
          <p:cNvSpPr/>
          <p:nvPr/>
        </p:nvSpPr>
        <p:spPr>
          <a:xfrm>
            <a:off x="457200" y="4590585"/>
            <a:ext cx="8229600" cy="552915"/>
          </a:xfrm>
          <a:prstGeom prst="rect">
            <a:avLst/>
          </a:prstGeom>
          <a:noFill/>
          <a:ln/>
        </p:spPr>
        <p:txBody>
          <a:bodyPr wrap="square" lIns="0" tIns="187071" rIns="0" bIns="187071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pergunta não é “IA ou pessoas?” — é </a:t>
            </a:r>
            <a:r>
              <a:rPr lang="en-US" sz="12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redesenhar tarefas e desenvolver competências.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1372326"/>
            <a:ext cx="82296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APRENDIZAGEM AO LONGO DA CARREIRA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457200" y="1579494"/>
            <a:ext cx="8229600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Aprender é um ciclo — não uma etapa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457200" y="2040266"/>
            <a:ext cx="8229600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atualização profissional combina estudo, prática e reflexão sobre o que funcionou.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457200" y="2733210"/>
            <a:ext cx="24097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0A5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457200" y="2926091"/>
            <a:ext cx="240978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3240416"/>
            <a:ext cx="2409788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 fundamentos e conhecer novas ferramentas.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3024150" y="2975372"/>
            <a:ext cx="18573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367050" y="2733210"/>
            <a:ext cx="24098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0A5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3367050" y="2926091"/>
            <a:ext cx="240984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367050" y="3240416"/>
            <a:ext cx="2409844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Usar o conhecimento em projetos, trabalho ou desafios reais.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934056" y="2975372"/>
            <a:ext cx="18573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76956" y="2733210"/>
            <a:ext cx="24098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60A5F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276956" y="2926091"/>
            <a:ext cx="240984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Revisar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76956" y="3240416"/>
            <a:ext cx="2409844" cy="3521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Receber feedback, atualizar práticas e aprender de novo.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7200" y="3978343"/>
            <a:ext cx="82296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Seu próximo passo pode ser </a:t>
            </a:r>
            <a:r>
              <a:rPr lang="en-US" sz="11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pequeno, concreto e esta semana.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se preparar para o mercado?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8625" y="989409"/>
            <a:ext cx="4071938" cy="1146572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9" y="1476970"/>
            <a:ext cx="150019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00113" y="1409105"/>
            <a:ext cx="210383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 Educacional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900113" y="1594842"/>
            <a:ext cx="21038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Construa fundamentos sólidos em sua área.</a:t>
            </a:r>
            <a:endParaRPr lang="en-US" sz="750" dirty="0"/>
          </a:p>
        </p:txBody>
      </p:sp>
      <p:sp>
        <p:nvSpPr>
          <p:cNvPr id="11" name="Shape 6"/>
          <p:cNvSpPr/>
          <p:nvPr/>
        </p:nvSpPr>
        <p:spPr>
          <a:xfrm>
            <a:off x="4643438" y="989409"/>
            <a:ext cx="4071938" cy="1146572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031" y="1472171"/>
            <a:ext cx="192881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57788" y="1404305"/>
            <a:ext cx="207168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Aprender Fazendo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5157788" y="1590042"/>
            <a:ext cx="207168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Coloque a teoria em prática imediatamente.</a:t>
            </a:r>
            <a:endParaRPr lang="en-US" sz="750" dirty="0"/>
          </a:p>
        </p:txBody>
      </p:sp>
      <p:sp>
        <p:nvSpPr>
          <p:cNvPr id="15" name="Shape 9"/>
          <p:cNvSpPr/>
          <p:nvPr/>
        </p:nvSpPr>
        <p:spPr>
          <a:xfrm>
            <a:off x="428625" y="2269313"/>
            <a:ext cx="4071938" cy="1151316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2759218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21544" y="2691352"/>
            <a:ext cx="2053828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Portfólio Real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921544" y="2877090"/>
            <a:ext cx="20538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 projetos e soluções resolvidas.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4643438" y="2269313"/>
            <a:ext cx="4071938" cy="1151316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759218"/>
            <a:ext cx="214313" cy="1714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179219" y="2691352"/>
            <a:ext cx="20216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Networking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5179219" y="2877090"/>
            <a:ext cx="202168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Conecte-se com profissionais e mentores.</a:t>
            </a:r>
            <a:endParaRPr lang="en-US" sz="750" dirty="0"/>
          </a:p>
        </p:txBody>
      </p:sp>
      <p:sp>
        <p:nvSpPr>
          <p:cNvPr id="23" name="Shape 15"/>
          <p:cNvSpPr/>
          <p:nvPr/>
        </p:nvSpPr>
        <p:spPr>
          <a:xfrm>
            <a:off x="428625" y="3558760"/>
            <a:ext cx="4071938" cy="1156115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219" y="4051064"/>
            <a:ext cx="150019" cy="1714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0113" y="3983199"/>
            <a:ext cx="1950244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Presença Digital</a:t>
            </a:r>
            <a:endParaRPr lang="en-US" sz="900" dirty="0"/>
          </a:p>
        </p:txBody>
      </p:sp>
      <p:sp>
        <p:nvSpPr>
          <p:cNvPr id="26" name="Text 17"/>
          <p:cNvSpPr/>
          <p:nvPr/>
        </p:nvSpPr>
        <p:spPr>
          <a:xfrm>
            <a:off x="900113" y="4168936"/>
            <a:ext cx="195024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Mantenha seu LinkedIn e currículo vivos.</a:t>
            </a:r>
            <a:endParaRPr lang="en-US" sz="750" dirty="0"/>
          </a:p>
        </p:txBody>
      </p:sp>
      <p:sp>
        <p:nvSpPr>
          <p:cNvPr id="27" name="Shape 18"/>
          <p:cNvSpPr/>
          <p:nvPr/>
        </p:nvSpPr>
        <p:spPr>
          <a:xfrm>
            <a:off x="4643438" y="3558760"/>
            <a:ext cx="4071938" cy="1156115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2031" y="4055864"/>
            <a:ext cx="214313" cy="17145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79219" y="3987998"/>
            <a:ext cx="22074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IA como Aliada</a:t>
            </a:r>
            <a:endParaRPr lang="en-US" sz="900" dirty="0"/>
          </a:p>
        </p:txBody>
      </p:sp>
      <p:sp>
        <p:nvSpPr>
          <p:cNvPr id="30" name="Text 20"/>
          <p:cNvSpPr/>
          <p:nvPr/>
        </p:nvSpPr>
        <p:spPr>
          <a:xfrm>
            <a:off x="5179219" y="4173736"/>
            <a:ext cx="220741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ferramentas para aumentar seu potencial.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528888" y="1005483"/>
            <a:ext cx="40862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spc="2" kern="0" dirty="0">
                <a:solidFill>
                  <a:srgbClr val="94A3B8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DINÂMICA: VOCÊ ESTÁ PREPARADO?</a:t>
            </a:r>
            <a:endParaRPr lang="en-US" sz="1400" dirty="0"/>
          </a:p>
        </p:txBody>
      </p:sp>
      <p:sp>
        <p:nvSpPr>
          <p:cNvPr id="5" name="Shape 1"/>
          <p:cNvSpPr/>
          <p:nvPr/>
        </p:nvSpPr>
        <p:spPr>
          <a:xfrm>
            <a:off x="1000125" y="1676995"/>
            <a:ext cx="7143750" cy="2461022"/>
          </a:xfrm>
          <a:prstGeom prst="rect">
            <a:avLst/>
          </a:prstGeom>
          <a:solidFill>
            <a:srgbClr val="1C2541"/>
          </a:solidFill>
          <a:ln w="18288">
            <a:solidFill>
              <a:srgbClr val="00E5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428750" y="2119908"/>
            <a:ext cx="6286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"Se você precisasse demonstrar hoje suas habilidades, quais projetos ou conhecimentos apresentaria?"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428750" y="3520083"/>
            <a:ext cx="6286500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competência não é o que você diz que sabe, é o que você consegue provar que faz.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27503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428625" y="428625"/>
            <a:ext cx="28575" cy="275034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2"/>
          <p:cNvSpPr/>
          <p:nvPr/>
        </p:nvSpPr>
        <p:spPr>
          <a:xfrm>
            <a:off x="571500" y="428625"/>
            <a:ext cx="8143875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futuro começa com as escolhas de hoje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428625" y="1132284"/>
            <a:ext cx="4036219" cy="1684139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382316"/>
            <a:ext cx="28575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07281" y="1382316"/>
            <a:ext cx="310753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Educação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107281" y="1664494"/>
            <a:ext cx="31075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alicerce que sustenta todas as suas capacidades futuras.</a:t>
            </a:r>
            <a:endParaRPr lang="en-US" sz="850" dirty="0"/>
          </a:p>
        </p:txBody>
      </p:sp>
      <p:sp>
        <p:nvSpPr>
          <p:cNvPr id="11" name="Shape 6"/>
          <p:cNvSpPr/>
          <p:nvPr/>
        </p:nvSpPr>
        <p:spPr>
          <a:xfrm>
            <a:off x="4679156" y="1132284"/>
            <a:ext cx="4036219" cy="1684139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382316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00663" y="1382316"/>
            <a:ext cx="316468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Iniciativa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5300663" y="1664494"/>
            <a:ext cx="31646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coragem de começar mesmo antes de se sentir "pronto".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428625" y="3030736"/>
            <a:ext cx="4036219" cy="1684139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3280767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0131" y="3280767"/>
            <a:ext cx="3164681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Prática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1050131" y="3562945"/>
            <a:ext cx="31646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Onde o conhecimento acadêmico se transforma em habilidade real.</a:t>
            </a:r>
            <a:endParaRPr lang="en-US" sz="850" dirty="0"/>
          </a:p>
        </p:txBody>
      </p:sp>
      <p:sp>
        <p:nvSpPr>
          <p:cNvPr id="19" name="Shape 12"/>
          <p:cNvSpPr/>
          <p:nvPr/>
        </p:nvSpPr>
        <p:spPr>
          <a:xfrm>
            <a:off x="4679156" y="3030736"/>
            <a:ext cx="4036219" cy="1684139"/>
          </a:xfrm>
          <a:prstGeom prst="rect">
            <a:avLst/>
          </a:prstGeom>
          <a:solidFill>
            <a:srgbClr val="1C2541"/>
          </a:solidFill>
          <a:ln w="9144">
            <a:solidFill>
              <a:srgbClr val="334155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280767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00663" y="3280767"/>
            <a:ext cx="3043238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Aprendizagem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300663" y="3562945"/>
            <a:ext cx="30432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compromisso de nunca parar de evoluir e se atualizar.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2938" y="1479872"/>
            <a:ext cx="78581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2" kern="0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OBRIGADO</a:t>
            </a:r>
            <a:endParaRPr lang="en-US" sz="700" dirty="0"/>
          </a:p>
        </p:txBody>
      </p:sp>
      <p:sp>
        <p:nvSpPr>
          <p:cNvPr id="5" name="Text 1"/>
          <p:cNvSpPr/>
          <p:nvPr/>
        </p:nvSpPr>
        <p:spPr>
          <a:xfrm>
            <a:off x="642938" y="1729904"/>
            <a:ext cx="7858125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750" b="1" dirty="0">
                <a:solidFill>
                  <a:srgbClr val="F8FAF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Conhecimento que vira solução.</a:t>
            </a:r>
            <a:endParaRPr lang="en-US" sz="2750" dirty="0"/>
          </a:p>
        </p:txBody>
      </p:sp>
      <p:sp>
        <p:nvSpPr>
          <p:cNvPr id="6" name="Shape 2"/>
          <p:cNvSpPr/>
          <p:nvPr/>
        </p:nvSpPr>
        <p:spPr>
          <a:xfrm>
            <a:off x="642938" y="2454269"/>
            <a:ext cx="6643688" cy="8699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642938" y="2454269"/>
            <a:ext cx="28575" cy="869975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4"/>
          <p:cNvSpPr/>
          <p:nvPr/>
        </p:nvSpPr>
        <p:spPr>
          <a:xfrm>
            <a:off x="642938" y="2454269"/>
            <a:ext cx="6643688" cy="869975"/>
          </a:xfrm>
          <a:prstGeom prst="rect">
            <a:avLst/>
          </a:prstGeom>
          <a:noFill/>
          <a:ln/>
        </p:spPr>
        <p:txBody>
          <a:bodyPr wrap="square" lIns="255143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diploma representa uma conquista. O conhecimento abre </a:t>
            </a: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possibilidades. Mas é a capacidade de </a:t>
            </a:r>
            <a:r>
              <a:rPr lang="en-US" sz="140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transformar conhecimento em soluções</a:t>
            </a:r>
            <a:r>
              <a:rPr lang="en-US" sz="15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constrói uma trajetória profissional.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2938" y="3481406"/>
            <a:ext cx="7858125" cy="146447"/>
          </a:xfrm>
          <a:prstGeom prst="rect">
            <a:avLst/>
          </a:prstGeom>
          <a:noFill/>
          <a:ln/>
        </p:spPr>
        <p:txBody>
          <a:bodyPr wrap="square" lIns="28917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Francisco Oliveira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642938" y="4013615"/>
            <a:ext cx="785812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Agora, </a:t>
            </a:r>
            <a:r>
              <a:rPr lang="en-US" sz="950" b="1" dirty="0">
                <a:solidFill>
                  <a:srgbClr val="00E5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vamos conversar?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2026-10-30T09:56:16Z</dcterms:created>
  <dcterms:modified xsi:type="dcterms:W3CDTF">2026-10-30T09:56:16Z</dcterms:modified>
</cp:coreProperties>
</file>